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84" r:id="rId18"/>
    <p:sldId id="285" r:id="rId19"/>
    <p:sldId id="286" r:id="rId20"/>
    <p:sldId id="287" r:id="rId21"/>
    <p:sldId id="288" r:id="rId22"/>
    <p:sldId id="289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7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23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4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52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4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9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94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1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3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3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6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64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1D36E-C623-44E9-B300-32F16957503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55381-7147-4BB9-96BD-947E44897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4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bytecollector.com/archive/mark_8/My_Mark-8_Info/Software/8008_InstructionSet_CodeSort.PD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ghts.stackoverflow.com/survey/2018/" TargetMode="External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List_of_programming_languag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1784322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Programming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 for instructing machines</a:t>
            </a:r>
          </a:p>
          <a:p>
            <a:r>
              <a:rPr lang="en-US" dirty="0"/>
              <a:t>A notation for algorithms</a:t>
            </a:r>
          </a:p>
          <a:p>
            <a:r>
              <a:rPr lang="en-US" dirty="0"/>
              <a:t>A means for communication among programmers</a:t>
            </a:r>
          </a:p>
          <a:p>
            <a:r>
              <a:rPr lang="en-US" dirty="0"/>
              <a:t>A tool for experimentation</a:t>
            </a:r>
          </a:p>
          <a:p>
            <a:r>
              <a:rPr lang="en-US" dirty="0"/>
              <a:t>A means for controlling computerized devices</a:t>
            </a:r>
          </a:p>
          <a:p>
            <a:r>
              <a:rPr lang="en-US" dirty="0"/>
              <a:t>A way of expressing relationships among concepts</a:t>
            </a:r>
          </a:p>
          <a:p>
            <a:r>
              <a:rPr lang="en-US" dirty="0"/>
              <a:t>A means for expressing high-level designs</a:t>
            </a:r>
          </a:p>
          <a:p>
            <a:r>
              <a:rPr lang="en-US" dirty="0"/>
              <a:t>So much more</a:t>
            </a:r>
          </a:p>
        </p:txBody>
      </p:sp>
    </p:spTree>
    <p:extLst>
      <p:ext uri="{BB962C8B-B14F-4D97-AF65-F5344CB8AC3E}">
        <p14:creationId xmlns:p14="http://schemas.microsoft.com/office/powerpoint/2010/main" val="67943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Pioneers of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Charles Babbage</a:t>
            </a:r>
          </a:p>
          <a:p>
            <a:pPr lvl="1"/>
            <a:r>
              <a:rPr lang="en-US" dirty="0"/>
              <a:t>Invented the Analytical Engine. Ada Lovelace is considered the first programmer in history</a:t>
            </a:r>
          </a:p>
          <a:p>
            <a:r>
              <a:rPr lang="en-US" dirty="0"/>
              <a:t>Konrad </a:t>
            </a:r>
            <a:r>
              <a:rPr lang="en-US" dirty="0" err="1"/>
              <a:t>Zuse</a:t>
            </a:r>
            <a:endParaRPr lang="en-US" dirty="0"/>
          </a:p>
          <a:p>
            <a:pPr lvl="1"/>
            <a:r>
              <a:rPr lang="en-US" dirty="0"/>
              <a:t>Designed </a:t>
            </a:r>
            <a:r>
              <a:rPr lang="en-US" dirty="0" err="1"/>
              <a:t>Plankalkül</a:t>
            </a:r>
            <a:r>
              <a:rPr lang="en-US" dirty="0"/>
              <a:t>. This notation for algorithms (never implemented) has features that can be found in many existing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428408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Low-level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languages and assembly languages. Initially full binary then added in symbolic features</a:t>
            </a:r>
          </a:p>
          <a:p>
            <a:r>
              <a:rPr lang="en-US" dirty="0"/>
              <a:t>Each processor model has one machine language and usually one assembly language</a:t>
            </a:r>
          </a:p>
          <a:p>
            <a:r>
              <a:rPr lang="en-US" dirty="0"/>
              <a:t>Each processor iteration would sometimes require modifying existing code to get it to work</a:t>
            </a:r>
          </a:p>
        </p:txBody>
      </p:sp>
    </p:spTree>
    <p:extLst>
      <p:ext uri="{BB962C8B-B14F-4D97-AF65-F5344CB8AC3E}">
        <p14:creationId xmlns:p14="http://schemas.microsoft.com/office/powerpoint/2010/main" val="73727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in 1949 by John </a:t>
            </a:r>
            <a:r>
              <a:rPr lang="en-US" dirty="0" err="1"/>
              <a:t>Mauchly</a:t>
            </a:r>
            <a:r>
              <a:rPr lang="en-US" dirty="0"/>
              <a:t>, co-inventor of UNIVAC I, the first commercial computer produced in the United States.</a:t>
            </a:r>
          </a:p>
          <a:p>
            <a:r>
              <a:rPr lang="en-US" dirty="0"/>
              <a:t>Short Code was one of the first higher-level languages developed for a computer.</a:t>
            </a:r>
          </a:p>
          <a:p>
            <a:r>
              <a:rPr lang="en-US" dirty="0"/>
              <a:t>Short Code statements represented mathematic expressions rather than machine instruction</a:t>
            </a:r>
          </a:p>
          <a:p>
            <a:r>
              <a:rPr lang="en-US" dirty="0"/>
              <a:t>Was not compiled but executed through an interpreter to simplify programming process, execution was much slower though, about 50 times slower than machine code</a:t>
            </a:r>
          </a:p>
        </p:txBody>
      </p:sp>
    </p:spTree>
    <p:extLst>
      <p:ext uri="{BB962C8B-B14F-4D97-AF65-F5344CB8AC3E}">
        <p14:creationId xmlns:p14="http://schemas.microsoft.com/office/powerpoint/2010/main" val="131540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A-0 system was created by Grace Hopper in 1951 for the UNIVAC I</a:t>
            </a:r>
          </a:p>
          <a:p>
            <a:r>
              <a:rPr lang="en-US" dirty="0"/>
              <a:t>It was the first compiler system ever developed for a computer</a:t>
            </a:r>
          </a:p>
          <a:p>
            <a:r>
              <a:rPr lang="en-US" dirty="0"/>
              <a:t>A program was specified as a sequence of subroutines and arguments. The subroutines were identified by a numeric code and the arguments to the subroutines were written directly after each subroutine code.</a:t>
            </a:r>
          </a:p>
          <a:p>
            <a:r>
              <a:rPr lang="en-US" dirty="0"/>
              <a:t>The A-0 system converted the specification into machine code that could be fed into the computer to execute</a:t>
            </a:r>
          </a:p>
        </p:txBody>
      </p:sp>
    </p:spTree>
    <p:extLst>
      <p:ext uri="{BB962C8B-B14F-4D97-AF65-F5344CB8AC3E}">
        <p14:creationId xmlns:p14="http://schemas.microsoft.com/office/powerpoint/2010/main" val="285966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Fortran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9000"/>
            <a:ext cx="10515600" cy="4351338"/>
          </a:xfrm>
        </p:spPr>
        <p:txBody>
          <a:bodyPr/>
          <a:lstStyle/>
          <a:p>
            <a:r>
              <a:rPr lang="en-US" dirty="0"/>
              <a:t>Developed by John Backus at IBM  in the 1950s for scientific and engineering applications on the IBM 704 mainframe computer.</a:t>
            </a:r>
          </a:p>
          <a:p>
            <a:r>
              <a:rPr lang="en-US" dirty="0"/>
              <a:t>General purpose procedural and imperative programming language, well suited for numeric computation and scientific computing</a:t>
            </a:r>
          </a:p>
          <a:p>
            <a:r>
              <a:rPr lang="en-US" dirty="0"/>
              <a:t>Originally designed to improving programming costs as programming in low level languages became more costly</a:t>
            </a:r>
          </a:p>
          <a:p>
            <a:r>
              <a:rPr lang="en-US" dirty="0"/>
              <a:t>Initially emphasis was put on number computations, only later did it have functionality to manipulate strings and characters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268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Cobol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in 1959 by Grace Hopper, COBOL (Common Business-Oriented Language) was designed primarily for business, finance and administrative systems</a:t>
            </a:r>
          </a:p>
          <a:p>
            <a:r>
              <a:rPr lang="en-US" dirty="0"/>
              <a:t>Focused on using English (as business is in English) and ease of use (even at performance costs). Primarily aimed at business people</a:t>
            </a:r>
          </a:p>
          <a:p>
            <a:r>
              <a:rPr lang="en-US" dirty="0"/>
              <a:t>First programming language advocated by the United States Department of Defense</a:t>
            </a:r>
          </a:p>
          <a:p>
            <a:r>
              <a:rPr lang="en-US" dirty="0"/>
              <a:t>Instead of y = x, COBOL has MOVE x TO y</a:t>
            </a:r>
          </a:p>
        </p:txBody>
      </p:sp>
    </p:spTree>
    <p:extLst>
      <p:ext uri="{BB962C8B-B14F-4D97-AF65-F5344CB8AC3E}">
        <p14:creationId xmlns:p14="http://schemas.microsoft.com/office/powerpoint/2010/main" val="3231680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Created in 1958 by John McCarthy as a practical mathematical notation for computer programs. Influenced by Alonzo Church’s lambda calculus</a:t>
            </a:r>
          </a:p>
          <a:p>
            <a:r>
              <a:rPr lang="en-US" dirty="0"/>
              <a:t>Pioneered many ideas in computer science, functional programming, tree data structures, dynamic typing, self-hosting compiler</a:t>
            </a:r>
          </a:p>
          <a:p>
            <a:r>
              <a:rPr lang="en-US" dirty="0"/>
              <a:t>Lisp implemented recursion and linked lists heavily</a:t>
            </a:r>
          </a:p>
          <a:p>
            <a:r>
              <a:rPr lang="en-US" dirty="0"/>
              <a:t>Lisp has been used extensively for artificial intelligence</a:t>
            </a:r>
          </a:p>
          <a:p>
            <a:r>
              <a:rPr lang="en-US" dirty="0"/>
              <a:t>Pioneered the notion of functional programming language</a:t>
            </a:r>
          </a:p>
          <a:p>
            <a:pPr lvl="1"/>
            <a:r>
              <a:rPr lang="en-US" dirty="0"/>
              <a:t>All computations are done by applying functions to arguments</a:t>
            </a:r>
          </a:p>
          <a:p>
            <a:pPr lvl="1"/>
            <a:r>
              <a:rPr lang="en-US" dirty="0"/>
              <a:t>Does not have variables or assignment operator</a:t>
            </a:r>
          </a:p>
          <a:p>
            <a:pPr lvl="1"/>
            <a:r>
              <a:rPr lang="en-US" dirty="0"/>
              <a:t>Repetitive processes are achieved by </a:t>
            </a:r>
            <a:r>
              <a:rPr lang="en-US" dirty="0" err="1"/>
              <a:t>recusion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940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in 1970 by </a:t>
            </a:r>
            <a:r>
              <a:rPr lang="en-US" dirty="0" err="1"/>
              <a:t>Niklaus</a:t>
            </a:r>
            <a:r>
              <a:rPr lang="en-US" dirty="0"/>
              <a:t> Wirth it is a small and efficient language designed to encourage good programming practices using structured programming and data structuring</a:t>
            </a:r>
          </a:p>
          <a:p>
            <a:r>
              <a:rPr lang="en-US" dirty="0"/>
              <a:t>Based on the ALGOL-60 programming language</a:t>
            </a:r>
          </a:p>
          <a:p>
            <a:r>
              <a:rPr lang="en-US" dirty="0"/>
              <a:t>Designed to teach students structured programming due to it’s simplicity and expressivity</a:t>
            </a:r>
          </a:p>
        </p:txBody>
      </p:sp>
    </p:spTree>
    <p:extLst>
      <p:ext uri="{BB962C8B-B14F-4D97-AF65-F5344CB8AC3E}">
        <p14:creationId xmlns:p14="http://schemas.microsoft.com/office/powerpoint/2010/main" val="1982076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between 1969 and 1973 by Dennis Ritchie at Bell Telephone Laboratories for use with the Unix operating system</a:t>
            </a:r>
          </a:p>
          <a:p>
            <a:r>
              <a:rPr lang="en-US" dirty="0"/>
              <a:t>C has become one of the most popular programming languages. It is widely used on many different platforms and there are few architectures for which a C compiler does not exist.</a:t>
            </a:r>
          </a:p>
          <a:p>
            <a:r>
              <a:rPr lang="en-US" dirty="0"/>
              <a:t>Originally designed with the following goals</a:t>
            </a:r>
          </a:p>
          <a:p>
            <a:pPr lvl="1"/>
            <a:r>
              <a:rPr lang="en-US" dirty="0"/>
              <a:t>To be compiled using a relatively straightforward compiler</a:t>
            </a:r>
          </a:p>
          <a:p>
            <a:pPr lvl="1"/>
            <a:r>
              <a:rPr lang="en-US" dirty="0"/>
              <a:t>To provide low-level access to memory</a:t>
            </a:r>
          </a:p>
          <a:p>
            <a:pPr lvl="1"/>
            <a:r>
              <a:rPr lang="en-US" dirty="0"/>
              <a:t>To provide language constructs that map efficiently to machine instructions</a:t>
            </a:r>
          </a:p>
          <a:p>
            <a:pPr lvl="1"/>
            <a:r>
              <a:rPr lang="en-US" dirty="0"/>
              <a:t>To require minimal run-time support</a:t>
            </a:r>
          </a:p>
        </p:txBody>
      </p:sp>
    </p:spTree>
    <p:extLst>
      <p:ext uri="{BB962C8B-B14F-4D97-AF65-F5344CB8AC3E}">
        <p14:creationId xmlns:p14="http://schemas.microsoft.com/office/powerpoint/2010/main" val="3143468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Unix operating systems included a C compiler and was developed using the C language</a:t>
            </a:r>
          </a:p>
          <a:p>
            <a:r>
              <a:rPr lang="en-US" dirty="0"/>
              <a:t>Despite its low-level programming capabilities, it was designed to encourage machine-independent programming</a:t>
            </a:r>
          </a:p>
          <a:p>
            <a:r>
              <a:rPr lang="en-US" dirty="0"/>
              <a:t>Many C programs can be ported to other systems with little to no change to its source code</a:t>
            </a:r>
          </a:p>
        </p:txBody>
      </p:sp>
    </p:spTree>
    <p:extLst>
      <p:ext uri="{BB962C8B-B14F-4D97-AF65-F5344CB8AC3E}">
        <p14:creationId xmlns:p14="http://schemas.microsoft.com/office/powerpoint/2010/main" val="2057303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by Jean </a:t>
            </a:r>
            <a:r>
              <a:rPr lang="en-US" dirty="0" err="1"/>
              <a:t>Ichbiah</a:t>
            </a:r>
            <a:r>
              <a:rPr lang="en-US" dirty="0"/>
              <a:t> under contact to the US Department of Defense from 1977 to 1983</a:t>
            </a:r>
          </a:p>
          <a:p>
            <a:r>
              <a:rPr lang="en-US" dirty="0"/>
              <a:t>In the 1970s, the Department of Defense was concerned by the number of different programming languages in use for embedded systems, many of which were obsolete, hardware-dependent, unsafe and did not support modular programming</a:t>
            </a:r>
          </a:p>
          <a:p>
            <a:r>
              <a:rPr lang="en-US" dirty="0"/>
              <a:t>Following the adoption of Ada, the number of high-level programming languages in use by the DoD fell significantly</a:t>
            </a:r>
          </a:p>
          <a:p>
            <a:r>
              <a:rPr lang="en-US" dirty="0"/>
              <a:t>Included a number of features that were very complex to implement including concurrency, exception handling, modularity and safety</a:t>
            </a:r>
          </a:p>
        </p:txBody>
      </p:sp>
    </p:spTree>
    <p:extLst>
      <p:ext uri="{BB962C8B-B14F-4D97-AF65-F5344CB8AC3E}">
        <p14:creationId xmlns:p14="http://schemas.microsoft.com/office/powerpoint/2010/main" val="1342938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Bjarne </a:t>
            </a:r>
            <a:r>
              <a:rPr lang="en-US" dirty="0" err="1"/>
              <a:t>Stroustrup</a:t>
            </a:r>
            <a:r>
              <a:rPr lang="en-US" dirty="0"/>
              <a:t> developed C++ in 1979 while working at Bell Laboratories as an enhancement to the C programming language</a:t>
            </a:r>
          </a:p>
          <a:p>
            <a:r>
              <a:rPr lang="en-US" dirty="0"/>
              <a:t>Designed to make the transition from C as smooth as possible and to avoid platform specific features</a:t>
            </a:r>
          </a:p>
          <a:p>
            <a:r>
              <a:rPr lang="en-US" dirty="0"/>
              <a:t>Added in objects, classes, inline functions, type checking, constructors/destructors, multiple inheritance, templates, and much </a:t>
            </a:r>
            <a:r>
              <a:rPr lang="en-US" dirty="0" err="1"/>
              <a:t>much</a:t>
            </a:r>
            <a:r>
              <a:rPr lang="en-US" dirty="0"/>
              <a:t> more</a:t>
            </a:r>
          </a:p>
          <a:p>
            <a:r>
              <a:rPr lang="en-US" dirty="0"/>
              <a:t>C++ is one of the most popular programming languages ever created</a:t>
            </a:r>
          </a:p>
        </p:txBody>
      </p:sp>
    </p:spTree>
    <p:extLst>
      <p:ext uri="{BB962C8B-B14F-4D97-AF65-F5344CB8AC3E}">
        <p14:creationId xmlns:p14="http://schemas.microsoft.com/office/powerpoint/2010/main" val="323957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by James Gosling at Sun Microsystems in 1995 as a core component of Sun Microsystems’ Java platform</a:t>
            </a:r>
          </a:p>
          <a:p>
            <a:r>
              <a:rPr lang="en-US" dirty="0"/>
              <a:t>General-purpose, concurrent, class-based, object-oriented language</a:t>
            </a:r>
          </a:p>
          <a:p>
            <a:r>
              <a:rPr lang="en-US" dirty="0"/>
              <a:t>Intended for a write once, run anywhere methodology</a:t>
            </a:r>
          </a:p>
          <a:p>
            <a:r>
              <a:rPr lang="en-US" dirty="0"/>
              <a:t>Defined as a simpler and safer version of C++ however was initially 10 times slower than C++</a:t>
            </a:r>
          </a:p>
          <a:p>
            <a:r>
              <a:rPr lang="en-US" dirty="0"/>
              <a:t>Developed Java applets that could run in web browsers</a:t>
            </a:r>
          </a:p>
        </p:txBody>
      </p:sp>
    </p:spTree>
    <p:extLst>
      <p:ext uri="{BB962C8B-B14F-4D97-AF65-F5344CB8AC3E}">
        <p14:creationId xmlns:p14="http://schemas.microsoft.com/office/powerpoint/2010/main" val="4013290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Huge amount of different scripting languages, all require some interpreter to run</a:t>
            </a:r>
          </a:p>
          <a:p>
            <a:r>
              <a:rPr lang="en-US" dirty="0"/>
              <a:t>On Unix/Linux you use Bash</a:t>
            </a:r>
          </a:p>
          <a:p>
            <a:r>
              <a:rPr lang="en-US" dirty="0"/>
              <a:t>Web pages </a:t>
            </a:r>
            <a:r>
              <a:rPr lang="en-US" dirty="0" err="1"/>
              <a:t>Javascript</a:t>
            </a:r>
            <a:endParaRPr lang="en-US" dirty="0"/>
          </a:p>
          <a:p>
            <a:r>
              <a:rPr lang="en-US" dirty="0"/>
              <a:t>More webpages or back-end development uses Perl, Python, Ruby</a:t>
            </a:r>
          </a:p>
          <a:p>
            <a:r>
              <a:rPr lang="en-US" dirty="0"/>
              <a:t>Windows uses PowerShell</a:t>
            </a:r>
          </a:p>
          <a:p>
            <a:r>
              <a:rPr lang="en-US" dirty="0"/>
              <a:t>New ones are developed every day</a:t>
            </a:r>
          </a:p>
        </p:txBody>
      </p:sp>
    </p:spTree>
    <p:extLst>
      <p:ext uri="{BB962C8B-B14F-4D97-AF65-F5344CB8AC3E}">
        <p14:creationId xmlns:p14="http://schemas.microsoft.com/office/powerpoint/2010/main" val="3492303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Variables are storage locations for data.</a:t>
            </a:r>
          </a:p>
          <a:p>
            <a:r>
              <a:rPr lang="en-US" dirty="0"/>
              <a:t>They also provide a descriptive way to label data to make it easier to understand programs</a:t>
            </a:r>
          </a:p>
          <a:p>
            <a:r>
              <a:rPr lang="en-US" dirty="0"/>
              <a:t>Most programming languages support different types of variables: integer (1, 541, -123), float/double (12.51, -654.12852), Boolean (true/false), character (A, f, $, ?), string (this is a string)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x = 5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y = 24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z = x + y</a:t>
            </a:r>
          </a:p>
          <a:p>
            <a:pPr marL="0" indent="0">
              <a:buNone/>
            </a:pPr>
            <a:r>
              <a:rPr lang="en-US" dirty="0"/>
              <a:t>What is z?</a:t>
            </a:r>
          </a:p>
        </p:txBody>
      </p:sp>
    </p:spTree>
    <p:extLst>
      <p:ext uri="{BB962C8B-B14F-4D97-AF65-F5344CB8AC3E}">
        <p14:creationId xmlns:p14="http://schemas.microsoft.com/office/powerpoint/2010/main" val="941092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modern programming languages have support for if statements.</a:t>
            </a:r>
          </a:p>
          <a:p>
            <a:r>
              <a:rPr lang="en-US" dirty="0"/>
              <a:t>If statements can be interpreted as “if something is true, then this happens”</a:t>
            </a:r>
          </a:p>
          <a:p>
            <a:r>
              <a:rPr lang="en-US" dirty="0" err="1"/>
              <a:t>int</a:t>
            </a:r>
            <a:r>
              <a:rPr lang="en-US" dirty="0"/>
              <a:t> x = 5</a:t>
            </a:r>
          </a:p>
          <a:p>
            <a:r>
              <a:rPr lang="en-US" dirty="0"/>
              <a:t>If (x == 5) { </a:t>
            </a:r>
            <a:r>
              <a:rPr lang="en-US" dirty="0" err="1"/>
              <a:t>printf</a:t>
            </a:r>
            <a:r>
              <a:rPr lang="en-US" dirty="0"/>
              <a:t>(“x is equals to 5”); } </a:t>
            </a:r>
          </a:p>
          <a:p>
            <a:pPr marL="0" indent="0">
              <a:buNone/>
            </a:pPr>
            <a:r>
              <a:rPr lang="en-US" dirty="0"/>
              <a:t>   else { </a:t>
            </a:r>
            <a:r>
              <a:rPr lang="en-US" dirty="0" err="1"/>
              <a:t>printf</a:t>
            </a:r>
            <a:r>
              <a:rPr lang="en-US" dirty="0"/>
              <a:t>(“x is not equal to 5”);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330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loops can be understood as, start at a value and keep doing something x number of times</a:t>
            </a:r>
          </a:p>
          <a:p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10;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printf</a:t>
            </a:r>
            <a:r>
              <a:rPr lang="en-US" dirty="0"/>
              <a:t>(“This is a for loop”);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3472834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loops are like a for loop only they perform something as many times as needed until a condition is met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x = 0;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y = 10;</a:t>
            </a:r>
          </a:p>
          <a:p>
            <a:pPr marL="0" indent="0">
              <a:buNone/>
            </a:pPr>
            <a:r>
              <a:rPr lang="en-US" dirty="0"/>
              <a:t>while(x &lt; y)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printf</a:t>
            </a:r>
            <a:r>
              <a:rPr lang="en-US" dirty="0"/>
              <a:t>(x);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3981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are a segment of your code designed to perform a specific task.</a:t>
            </a:r>
          </a:p>
          <a:p>
            <a:r>
              <a:rPr lang="en-US" dirty="0"/>
              <a:t>You would write functions to make your code more portable, easier to follow and update or to prevent typing the same section of code multiple times.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383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larger(</a:t>
            </a:r>
            <a:r>
              <a:rPr lang="en-US" dirty="0" err="1"/>
              <a:t>int</a:t>
            </a:r>
            <a:r>
              <a:rPr lang="en-US" dirty="0"/>
              <a:t> x, </a:t>
            </a:r>
            <a:r>
              <a:rPr lang="en-US" dirty="0" err="1"/>
              <a:t>int</a:t>
            </a:r>
            <a:r>
              <a:rPr lang="en-US" dirty="0"/>
              <a:t> y) {</a:t>
            </a:r>
          </a:p>
          <a:p>
            <a:pPr marL="0" indent="0">
              <a:buNone/>
            </a:pPr>
            <a:r>
              <a:rPr lang="en-US" dirty="0"/>
              <a:t>   if (x &gt; y || x == y) { return x; }</a:t>
            </a:r>
          </a:p>
          <a:p>
            <a:pPr marL="0" indent="0">
              <a:buNone/>
            </a:pPr>
            <a:r>
              <a:rPr lang="en-US" dirty="0"/>
              <a:t>   else { return y;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/>
              <a:t>int</a:t>
            </a:r>
            <a:r>
              <a:rPr lang="en-US" dirty="0"/>
              <a:t> main()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int</a:t>
            </a:r>
            <a:r>
              <a:rPr lang="en-US" dirty="0"/>
              <a:t> x = 10; </a:t>
            </a:r>
            <a:r>
              <a:rPr lang="en-US" dirty="0" err="1"/>
              <a:t>int</a:t>
            </a:r>
            <a:r>
              <a:rPr lang="en-US" dirty="0"/>
              <a:t> y = 2;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(“The larger number is: %d“, larger(</a:t>
            </a:r>
            <a:r>
              <a:rPr lang="en-US" dirty="0" err="1"/>
              <a:t>x,y</a:t>
            </a:r>
            <a:r>
              <a:rPr lang="en-US" dirty="0"/>
              <a:t>));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397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40FE-1FEE-17B1-9126-381119F2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Low-Level Languages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DB172-0A7D-9496-1D89-FD516707F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What they are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Close to the </a:t>
            </a:r>
            <a:r>
              <a:rPr lang="en-US" altLang="en-US" b="1" dirty="0">
                <a:latin typeface="Arial" panose="020B0604020202020204" pitchFamily="34" charset="0"/>
              </a:rPr>
              <a:t>machine and CPU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Give precise control over memory and execution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Characteristics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Less readable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Manual memory management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Hardware-specific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Faster and more predictable performance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Examples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Assembly language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 (borderline)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C++ (can be high- or low-level depending on use)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Best for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Operating systems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Embedded systems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Game engines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Performance-critical code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Device drivers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422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8DB67-7FBA-F657-2182-EEE899107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High-Level Languages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009B9-10B5-04D4-58C6-2226FB9FF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What they are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Designed to be </a:t>
            </a:r>
            <a:r>
              <a:rPr lang="en-US" altLang="en-US" b="1" dirty="0">
                <a:latin typeface="Arial" panose="020B0604020202020204" pitchFamily="34" charset="0"/>
              </a:rPr>
              <a:t>easy for humans to read, write, and reason about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Hide most hardware details (memory, registers, instruction timing)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Characteristics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English-like syntax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Automatic memory management (often)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Portable across systems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Slower </a:t>
            </a:r>
            <a:r>
              <a:rPr lang="en-US" altLang="en-US" i="1" dirty="0">
                <a:latin typeface="Arial" panose="020B0604020202020204" pitchFamily="34" charset="0"/>
              </a:rPr>
              <a:t>in general</a:t>
            </a:r>
            <a:r>
              <a:rPr lang="en-US" altLang="en-US" dirty="0">
                <a:latin typeface="Arial" panose="020B0604020202020204" pitchFamily="34" charset="0"/>
              </a:rPr>
              <a:t> (but not always in practice)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Examples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Python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Java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JavaScript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C#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Ruby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Best for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Application development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Web and mobile apps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Rapid prototyping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Teaching problem-solving over hardware details</a:t>
            </a:r>
          </a:p>
        </p:txBody>
      </p:sp>
    </p:spTree>
    <p:extLst>
      <p:ext uri="{BB962C8B-B14F-4D97-AF65-F5344CB8AC3E}">
        <p14:creationId xmlns:p14="http://schemas.microsoft.com/office/powerpoint/2010/main" val="2539432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Computer Program?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solution to a problem?</a:t>
            </a:r>
          </a:p>
          <a:p>
            <a:r>
              <a:rPr lang="en-US" dirty="0"/>
              <a:t>A confusing mess?</a:t>
            </a:r>
          </a:p>
          <a:p>
            <a:r>
              <a:rPr lang="en-US" b="1" i="1" dirty="0"/>
              <a:t>A sequence of instructions?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46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Computer Program?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program is a sequence of </a:t>
            </a:r>
            <a:r>
              <a:rPr lang="en-US" i="1" dirty="0"/>
              <a:t>statements</a:t>
            </a:r>
            <a:r>
              <a:rPr lang="en-US" dirty="0"/>
              <a:t> written in a formal </a:t>
            </a:r>
            <a:r>
              <a:rPr lang="en-US" i="1" dirty="0"/>
              <a:t>language</a:t>
            </a:r>
            <a:r>
              <a:rPr lang="en-US" dirty="0"/>
              <a:t> and executed in </a:t>
            </a:r>
            <a:r>
              <a:rPr lang="en-US" i="1" dirty="0"/>
              <a:t>sequential</a:t>
            </a:r>
            <a:r>
              <a:rPr lang="en-US" dirty="0"/>
              <a:t> order</a:t>
            </a:r>
          </a:p>
          <a:p>
            <a:pPr lvl="1"/>
            <a:r>
              <a:rPr lang="en-US" dirty="0"/>
              <a:t>There are some statements that can jump to another position in the sequence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062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Languages have </a:t>
            </a:r>
          </a:p>
          <a:p>
            <a:pPr lvl="1"/>
            <a:r>
              <a:rPr lang="en-US" dirty="0"/>
              <a:t>syntax (the way in which words can be combined) and </a:t>
            </a:r>
          </a:p>
          <a:p>
            <a:pPr lvl="1"/>
            <a:r>
              <a:rPr lang="en-US" dirty="0"/>
              <a:t>semantics (roughly, the meaning; the relation between the language and the world)</a:t>
            </a:r>
          </a:p>
          <a:p>
            <a:r>
              <a:rPr lang="en-US" dirty="0"/>
              <a:t>Natural language</a:t>
            </a:r>
          </a:p>
          <a:p>
            <a:pPr lvl="1"/>
            <a:r>
              <a:rPr lang="en-US" dirty="0"/>
              <a:t>Languages we speak:  English, Spanish, Chinese, Finnish,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Can grow (infinitely?)</a:t>
            </a:r>
          </a:p>
          <a:p>
            <a:pPr lvl="1"/>
            <a:r>
              <a:rPr lang="en-US" dirty="0"/>
              <a:t>Can be redundant and ambiguous</a:t>
            </a:r>
          </a:p>
          <a:p>
            <a:pPr lvl="2"/>
            <a:r>
              <a:rPr lang="en-US" dirty="0"/>
              <a:t>Pronouns</a:t>
            </a:r>
          </a:p>
          <a:p>
            <a:r>
              <a:rPr lang="en-US" dirty="0"/>
              <a:t>Formal language</a:t>
            </a:r>
          </a:p>
          <a:p>
            <a:pPr lvl="1"/>
            <a:r>
              <a:rPr lang="en-US" dirty="0"/>
              <a:t>A language we invent for some particular reason (like a programming language)</a:t>
            </a:r>
          </a:p>
          <a:p>
            <a:pPr lvl="2"/>
            <a:r>
              <a:rPr lang="en-US" dirty="0"/>
              <a:t>Some might be meant to be machine interpretable</a:t>
            </a:r>
          </a:p>
          <a:p>
            <a:pPr lvl="1"/>
            <a:r>
              <a:rPr lang="en-US" dirty="0"/>
              <a:t>Can grow but slowly and not infinitely</a:t>
            </a:r>
          </a:p>
          <a:p>
            <a:pPr lvl="1"/>
            <a:r>
              <a:rPr lang="en-US" dirty="0"/>
              <a:t>Can not be redundant or ambiguous</a:t>
            </a:r>
          </a:p>
          <a:p>
            <a:pPr lvl="2"/>
            <a:r>
              <a:rPr lang="en-US" dirty="0"/>
              <a:t>Pronouns</a:t>
            </a:r>
          </a:p>
          <a:p>
            <a:r>
              <a:rPr lang="en-US" dirty="0"/>
              <a:t>Programming languages are formal languages</a:t>
            </a:r>
          </a:p>
        </p:txBody>
      </p:sp>
    </p:spTree>
    <p:extLst>
      <p:ext uri="{BB962C8B-B14F-4D97-AF65-F5344CB8AC3E}">
        <p14:creationId xmlns:p14="http://schemas.microsoft.com/office/powerpoint/2010/main" val="228297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High level language</a:t>
            </a:r>
          </a:p>
          <a:p>
            <a:pPr lvl="1"/>
            <a:r>
              <a:rPr lang="en-US" dirty="0"/>
              <a:t>Highest level of abstraction</a:t>
            </a:r>
          </a:p>
          <a:p>
            <a:pPr lvl="1"/>
            <a:r>
              <a:rPr lang="en-US" dirty="0"/>
              <a:t>C#, Java, Python, C++</a:t>
            </a:r>
          </a:p>
          <a:p>
            <a:r>
              <a:rPr lang="en-US" dirty="0"/>
              <a:t>Mid/Low level language</a:t>
            </a:r>
          </a:p>
          <a:p>
            <a:pPr lvl="1"/>
            <a:r>
              <a:rPr lang="en-US" dirty="0"/>
              <a:t>Less abstraction – closer to the hardware</a:t>
            </a:r>
          </a:p>
          <a:p>
            <a:pPr lvl="1"/>
            <a:r>
              <a:rPr lang="en-US" dirty="0"/>
              <a:t>C</a:t>
            </a:r>
          </a:p>
          <a:p>
            <a:r>
              <a:rPr lang="en-US" dirty="0"/>
              <a:t>Assembly language</a:t>
            </a:r>
          </a:p>
          <a:p>
            <a:pPr lvl="1"/>
            <a:r>
              <a:rPr lang="en-US" dirty="0"/>
              <a:t>No abstraction </a:t>
            </a:r>
          </a:p>
          <a:p>
            <a:pPr lvl="1"/>
            <a:r>
              <a:rPr lang="en-US" dirty="0"/>
              <a:t>Mnemonics for instructions, memory location names</a:t>
            </a:r>
          </a:p>
          <a:p>
            <a:r>
              <a:rPr lang="en-US" dirty="0"/>
              <a:t>Machine code (hardware)</a:t>
            </a:r>
          </a:p>
          <a:p>
            <a:pPr lvl="1"/>
            <a:r>
              <a:rPr lang="en-US" dirty="0"/>
              <a:t>These are the binary op codes (instructions) that execute on the hardware</a:t>
            </a:r>
          </a:p>
        </p:txBody>
      </p:sp>
    </p:spTree>
    <p:extLst>
      <p:ext uri="{BB962C8B-B14F-4D97-AF65-F5344CB8AC3E}">
        <p14:creationId xmlns:p14="http://schemas.microsoft.com/office/powerpoint/2010/main" val="608068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Languages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1572840"/>
            <a:ext cx="95250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198" y="5763840"/>
            <a:ext cx="11328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"</a:t>
            </a:r>
            <a:r>
              <a:rPr lang="en-US" i="1" dirty="0" err="1"/>
              <a:t>Vaporators</a:t>
            </a:r>
            <a:r>
              <a:rPr lang="en-US" i="1" dirty="0"/>
              <a:t>? Sir, my first job was programming binary </a:t>
            </a:r>
            <a:r>
              <a:rPr lang="en-US" i="1" dirty="0" err="1"/>
              <a:t>loadlifters</a:t>
            </a:r>
            <a:r>
              <a:rPr lang="en-US" i="1" dirty="0"/>
              <a:t>—very similar to your </a:t>
            </a:r>
            <a:r>
              <a:rPr lang="en-US" i="1" dirty="0" err="1"/>
              <a:t>vaporators</a:t>
            </a:r>
            <a:r>
              <a:rPr lang="en-US" i="1" dirty="0"/>
              <a:t> in most respects.</a:t>
            </a:r>
            <a:r>
              <a:rPr 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104916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270154-1421-443A-BC92-23CB8329C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54" y="500062"/>
            <a:ext cx="10515600" cy="1325563"/>
          </a:xfrm>
        </p:spPr>
        <p:txBody>
          <a:bodyPr/>
          <a:lstStyle/>
          <a:p>
            <a:r>
              <a:rPr lang="en-US" dirty="0"/>
              <a:t>CPU Instruction Set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5DCB2-CD2A-437B-881E-875B3E719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79763"/>
          </a:xfrm>
        </p:spPr>
        <p:txBody>
          <a:bodyPr/>
          <a:lstStyle/>
          <a:p>
            <a:r>
              <a:rPr lang="en-US" dirty="0"/>
              <a:t>The instructions that the computer understands are its native Machine Language instructions (assembly language programs are written using these instructions directly).</a:t>
            </a:r>
          </a:p>
          <a:p>
            <a:r>
              <a:rPr lang="en-US" dirty="0">
                <a:hlinkClick r:id="rId2"/>
              </a:rPr>
              <a:t>8008 Instruction Set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3788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5108" y="1742884"/>
            <a:ext cx="99356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very small assembly language program to add two numbers from memory and place the result back in memory would look like this:</a:t>
            </a:r>
          </a:p>
          <a:p>
            <a:endParaRPr lang="en-US" sz="2000" dirty="0"/>
          </a:p>
          <a:p>
            <a:r>
              <a:rPr lang="en-US" sz="2000" dirty="0"/>
              <a:t>LAM    5E00    	; Load data from address 5E00</a:t>
            </a:r>
            <a:r>
              <a:rPr lang="en-US" sz="2000" baseline="-25000" dirty="0"/>
              <a:t>16</a:t>
            </a:r>
            <a:r>
              <a:rPr lang="en-US" sz="2000" dirty="0"/>
              <a:t> into A</a:t>
            </a:r>
            <a:br>
              <a:rPr lang="en-US" sz="2000" dirty="0"/>
            </a:br>
            <a:r>
              <a:rPr lang="en-US" sz="2000" dirty="0"/>
              <a:t>LBM    5E01    	; Load data from address 5E01</a:t>
            </a:r>
            <a:r>
              <a:rPr lang="en-US" sz="2000" baseline="-25000" dirty="0"/>
              <a:t>16</a:t>
            </a:r>
            <a:r>
              <a:rPr lang="en-US" sz="2000" dirty="0"/>
              <a:t> into B</a:t>
            </a:r>
            <a:br>
              <a:rPr lang="en-US" sz="2000" dirty="0"/>
            </a:br>
            <a:r>
              <a:rPr lang="en-US" sz="2000" dirty="0"/>
              <a:t>ADB            	; Add A and B and put result in A</a:t>
            </a:r>
            <a:r>
              <a:rPr lang="en-US" sz="2000" baseline="-25000" dirty="0"/>
              <a:t> </a:t>
            </a:r>
            <a:br>
              <a:rPr lang="en-US" sz="2000" dirty="0"/>
            </a:br>
            <a:r>
              <a:rPr lang="en-US" sz="2000" dirty="0"/>
              <a:t>LMA    5E02    	; Move data from A to address 5E02</a:t>
            </a:r>
            <a:r>
              <a:rPr lang="en-US" sz="2000" baseline="-25000" dirty="0"/>
              <a:t>16</a:t>
            </a:r>
          </a:p>
          <a:p>
            <a:r>
              <a:rPr lang="en-US" sz="2000" dirty="0"/>
              <a:t>HLT</a:t>
            </a:r>
          </a:p>
        </p:txBody>
      </p:sp>
      <p:sp>
        <p:nvSpPr>
          <p:cNvPr id="5" name="Title 4"/>
          <p:cNvSpPr txBox="1">
            <a:spLocks/>
          </p:cNvSpPr>
          <p:nvPr/>
        </p:nvSpPr>
        <p:spPr>
          <a:xfrm>
            <a:off x="838200" y="316031"/>
            <a:ext cx="10515600" cy="56768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Assembly Language</a:t>
            </a:r>
          </a:p>
        </p:txBody>
      </p:sp>
    </p:spTree>
    <p:extLst>
      <p:ext uri="{BB962C8B-B14F-4D97-AF65-F5344CB8AC3E}">
        <p14:creationId xmlns:p14="http://schemas.microsoft.com/office/powerpoint/2010/main" val="138515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CPU Good At?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Remembering things</a:t>
            </a:r>
          </a:p>
          <a:p>
            <a:pPr lvl="1"/>
            <a:r>
              <a:rPr lang="en-US" dirty="0"/>
              <a:t>Moving values to/from memory</a:t>
            </a:r>
          </a:p>
          <a:p>
            <a:pPr lvl="1"/>
            <a:r>
              <a:rPr lang="en-US" dirty="0"/>
              <a:t>Computer moves things from CPU bus to display or network</a:t>
            </a:r>
          </a:p>
          <a:p>
            <a:r>
              <a:rPr lang="en-US" dirty="0"/>
              <a:t>Simple math operations</a:t>
            </a:r>
          </a:p>
          <a:p>
            <a:pPr lvl="1"/>
            <a:r>
              <a:rPr lang="en-US" dirty="0"/>
              <a:t>Add, subtract</a:t>
            </a:r>
          </a:p>
          <a:p>
            <a:pPr lvl="1"/>
            <a:r>
              <a:rPr lang="en-US" dirty="0"/>
              <a:t>Multiply, divide are sometimes provided in separate </a:t>
            </a:r>
            <a:r>
              <a:rPr lang="en-US"/>
              <a:t>floating-point processor</a:t>
            </a:r>
            <a:endParaRPr lang="en-US" dirty="0"/>
          </a:p>
          <a:p>
            <a:r>
              <a:rPr lang="en-US" dirty="0"/>
              <a:t>Repetition</a:t>
            </a:r>
          </a:p>
          <a:p>
            <a:pPr lvl="1"/>
            <a:r>
              <a:rPr lang="en-US" dirty="0"/>
              <a:t>Over, and over, ….. and over again</a:t>
            </a:r>
          </a:p>
          <a:p>
            <a:r>
              <a:rPr lang="en-US" dirty="0"/>
              <a:t>Low level decision making</a:t>
            </a:r>
          </a:p>
          <a:p>
            <a:pPr lvl="1"/>
            <a:r>
              <a:rPr lang="en-US" dirty="0"/>
              <a:t>Compare two values, jump on condition</a:t>
            </a:r>
          </a:p>
          <a:p>
            <a:r>
              <a:rPr lang="en-US" i="1" dirty="0"/>
              <a:t>The job of the programmer is to implement an </a:t>
            </a:r>
            <a:r>
              <a:rPr lang="en-US" i="1" u="sng" dirty="0"/>
              <a:t>algorithm</a:t>
            </a:r>
            <a:r>
              <a:rPr lang="en-US" i="1" dirty="0"/>
              <a:t> using these simple instructions to do the job that needs to be done</a:t>
            </a:r>
          </a:p>
          <a:p>
            <a:pPr lvl="1"/>
            <a:r>
              <a:rPr lang="en-US" dirty="0"/>
              <a:t>Think about long division – step by step process (</a:t>
            </a:r>
            <a:r>
              <a:rPr lang="en-US" i="1" u="sng" dirty="0"/>
              <a:t>algorithm</a:t>
            </a:r>
            <a:r>
              <a:rPr lang="en-US" dirty="0"/>
              <a:t>) to divide two numbers</a:t>
            </a:r>
          </a:p>
        </p:txBody>
      </p:sp>
    </p:spTree>
    <p:extLst>
      <p:ext uri="{BB962C8B-B14F-4D97-AF65-F5344CB8AC3E}">
        <p14:creationId xmlns:p14="http://schemas.microsoft.com/office/powerpoint/2010/main" val="3868313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in Describing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are the steps to?</a:t>
            </a:r>
          </a:p>
          <a:p>
            <a:pPr lvl="1"/>
            <a:r>
              <a:rPr lang="en-US" dirty="0"/>
              <a:t>Make a peanut butter and jelly sandwich</a:t>
            </a:r>
          </a:p>
          <a:p>
            <a:pPr lvl="1"/>
            <a:r>
              <a:rPr lang="en-US" dirty="0"/>
              <a:t>Sort playing cards</a:t>
            </a:r>
          </a:p>
          <a:p>
            <a:pPr lvl="2"/>
            <a:r>
              <a:rPr lang="en-US" dirty="0"/>
              <a:t>Sort cards by </a:t>
            </a:r>
          </a:p>
          <a:p>
            <a:pPr lvl="3"/>
            <a:r>
              <a:rPr lang="en-US" dirty="0"/>
              <a:t>suit (spades, hearts, diamonds, clubs) and</a:t>
            </a:r>
          </a:p>
          <a:p>
            <a:pPr lvl="3"/>
            <a:r>
              <a:rPr lang="en-US" dirty="0"/>
              <a:t>Rank (A, K, Q, J, 10 – 2)</a:t>
            </a:r>
          </a:p>
          <a:p>
            <a:pPr lvl="1"/>
            <a:r>
              <a:rPr lang="en-US" dirty="0"/>
              <a:t>Count Legos by color</a:t>
            </a:r>
          </a:p>
          <a:p>
            <a:pPr lvl="2"/>
            <a:r>
              <a:rPr lang="en-US" dirty="0"/>
              <a:t>Counts of each color of Legos</a:t>
            </a:r>
          </a:p>
          <a:p>
            <a:pPr lvl="1"/>
            <a:r>
              <a:rPr lang="en-US" dirty="0"/>
              <a:t>Long division </a:t>
            </a:r>
          </a:p>
          <a:p>
            <a:r>
              <a:rPr lang="en-US" dirty="0"/>
              <a:t>These processes must described in simple steps and must be complete so that someone else (even a computer) could follow them</a:t>
            </a:r>
          </a:p>
          <a:p>
            <a:r>
              <a:rPr lang="en-US" dirty="0"/>
              <a:t>Think about how you would tell another person (or a computer) to do this</a:t>
            </a:r>
          </a:p>
          <a:p>
            <a:r>
              <a:rPr lang="en-US" dirty="0"/>
              <a:t>Write down </a:t>
            </a:r>
            <a:r>
              <a:rPr lang="en-US"/>
              <a:t>the steps</a:t>
            </a:r>
            <a:endParaRPr lang="en-US" dirty="0"/>
          </a:p>
          <a:p>
            <a:pPr lvl="1"/>
            <a:r>
              <a:rPr lang="en-US" b="1" i="1" dirty="0"/>
              <a:t>Computer programming is a written form of art</a:t>
            </a:r>
          </a:p>
        </p:txBody>
      </p:sp>
    </p:spTree>
    <p:extLst>
      <p:ext uri="{BB962C8B-B14F-4D97-AF65-F5344CB8AC3E}">
        <p14:creationId xmlns:p14="http://schemas.microsoft.com/office/powerpoint/2010/main" val="3060745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https://www.tiobe.com/tiobe-index/</a:t>
            </a:r>
            <a:endParaRPr lang="en-US" dirty="0"/>
          </a:p>
          <a:p>
            <a:r>
              <a:rPr lang="en-US" dirty="0">
                <a:hlinkClick r:id="rId3"/>
              </a:rPr>
              <a:t>https://insights.stackoverflow.com/survey/2018/</a:t>
            </a:r>
            <a:endParaRPr lang="en-US" dirty="0"/>
          </a:p>
          <a:p>
            <a:r>
              <a:rPr lang="en-US">
                <a:hlinkClick r:id="rId4"/>
              </a:rPr>
              <a:t>https://en.wikipedia.org/wiki/List_of_programming_languages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699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1754</TotalTime>
  <Words>2068</Words>
  <Application>Microsoft Macintosh PowerPoint</Application>
  <PresentationFormat>Widescreen</PresentationFormat>
  <Paragraphs>254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Programming Languages</vt:lpstr>
      <vt:lpstr>What is a Programming Language?</vt:lpstr>
      <vt:lpstr>Pioneers of Programming</vt:lpstr>
      <vt:lpstr>Low-level Languages</vt:lpstr>
      <vt:lpstr>Short Code</vt:lpstr>
      <vt:lpstr>A-0</vt:lpstr>
      <vt:lpstr>Fortran</vt:lpstr>
      <vt:lpstr>Cobol</vt:lpstr>
      <vt:lpstr>Lisp</vt:lpstr>
      <vt:lpstr>Pascal</vt:lpstr>
      <vt:lpstr>C</vt:lpstr>
      <vt:lpstr>C</vt:lpstr>
      <vt:lpstr>Ada</vt:lpstr>
      <vt:lpstr>C++</vt:lpstr>
      <vt:lpstr>Java</vt:lpstr>
      <vt:lpstr>Scripting Languages</vt:lpstr>
      <vt:lpstr>Variables</vt:lpstr>
      <vt:lpstr>Flow Control</vt:lpstr>
      <vt:lpstr>Flow Control</vt:lpstr>
      <vt:lpstr>Flow Control</vt:lpstr>
      <vt:lpstr>Functions</vt:lpstr>
      <vt:lpstr>Example</vt:lpstr>
      <vt:lpstr>Low-Level Languages</vt:lpstr>
      <vt:lpstr>High-Level Languages</vt:lpstr>
      <vt:lpstr>What is a Computer Program? </vt:lpstr>
      <vt:lpstr>What is a Computer Program? </vt:lpstr>
      <vt:lpstr>Languages</vt:lpstr>
      <vt:lpstr>Software Languages</vt:lpstr>
      <vt:lpstr>Software Languages</vt:lpstr>
      <vt:lpstr>CPU Instruction Set</vt:lpstr>
      <vt:lpstr>PowerPoint Presentation</vt:lpstr>
      <vt:lpstr>What is a CPU Good At?</vt:lpstr>
      <vt:lpstr>Exercises in Describing an Algorithm</vt:lpstr>
      <vt:lpstr>PowerPoint Presentation</vt:lpstr>
    </vt:vector>
  </TitlesOfParts>
  <Company>Colorado Mesa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Languages</dc:title>
  <dc:creator>Bergen, Jeremy</dc:creator>
  <cp:lastModifiedBy>James, Gary</cp:lastModifiedBy>
  <cp:revision>11</cp:revision>
  <dcterms:created xsi:type="dcterms:W3CDTF">2019-02-05T22:11:27Z</dcterms:created>
  <dcterms:modified xsi:type="dcterms:W3CDTF">2026-01-30T04:44:27Z</dcterms:modified>
</cp:coreProperties>
</file>